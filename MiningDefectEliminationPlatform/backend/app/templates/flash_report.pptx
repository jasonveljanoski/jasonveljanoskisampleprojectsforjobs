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Lst>
  <p:notesMasterIdLst>
    <p:notesMasterId r:id="rId10"/>
  </p:notesMasterIdLst>
  <p:sldIdLst>
    <p:sldId id="256" r:id="rId5"/>
    <p:sldId id="524" r:id="rId6"/>
    <p:sldId id="521" r:id="rId7"/>
    <p:sldId id="523" r:id="rId8"/>
    <p:sldId id="4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FDE"/>
    <a:srgbClr val="0099CC"/>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E18FDA-F355-4ED9-93D8-48096D76DD11}" v="166" dt="2022-03-02T05:49:47.240"/>
    <p1510:client id="{FD6E10DF-B43E-43AA-820B-44D7356F449C}" vWet="2" dt="2022-03-02T05:06:32.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24"/>
    <p:restoredTop sz="94694"/>
  </p:normalViewPr>
  <p:slideViewPr>
    <p:cSldViewPr snapToGrid="0">
      <p:cViewPr varScale="1">
        <p:scale>
          <a:sx n="114" d="100"/>
          <a:sy n="114" d="100"/>
        </p:scale>
        <p:origin x="18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1033F4-723D-4C23-BC07-2D3F2B7B8284}" type="datetimeFigureOut">
              <a:rPr lang="en-AU" smtClean="0"/>
              <a:t>22/9/22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CCAB92-FB9A-4C36-AD13-64C321E5647F}" type="slidenum">
              <a:rPr lang="en-AU" smtClean="0"/>
              <a:t>‹#›</a:t>
            </a:fld>
            <a:endParaRPr lang="en-AU"/>
          </a:p>
        </p:txBody>
      </p:sp>
    </p:spTree>
    <p:extLst>
      <p:ext uri="{BB962C8B-B14F-4D97-AF65-F5344CB8AC3E}">
        <p14:creationId xmlns:p14="http://schemas.microsoft.com/office/powerpoint/2010/main" val="387422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589316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A3C6DB8-501A-4DD9-B16F-7AF73CD11591}"/>
              </a:ext>
            </a:extLst>
          </p:cNvPr>
          <p:cNvSpPr/>
          <p:nvPr userDrawn="1"/>
        </p:nvSpPr>
        <p:spPr>
          <a:xfrm>
            <a:off x="0" y="0"/>
            <a:ext cx="4240212" cy="6858000"/>
          </a:xfrm>
          <a:prstGeom prst="rect">
            <a:avLst/>
          </a:prstGeom>
          <a:solidFill>
            <a:schemeClr val="accent1"/>
          </a:solidFill>
          <a:ln>
            <a:solidFill>
              <a:srgbClr val="418F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TextBox 14">
            <a:extLst>
              <a:ext uri="{FF2B5EF4-FFF2-40B4-BE49-F238E27FC236}">
                <a16:creationId xmlns:a16="http://schemas.microsoft.com/office/drawing/2014/main" id="{6BF65F6E-A846-4A3B-BB0A-3A02C92CA395}"/>
              </a:ext>
            </a:extLst>
          </p:cNvPr>
          <p:cNvSpPr txBox="1"/>
          <p:nvPr userDrawn="1"/>
        </p:nvSpPr>
        <p:spPr>
          <a:xfrm>
            <a:off x="399012" y="717959"/>
            <a:ext cx="2718262" cy="1938992"/>
          </a:xfrm>
          <a:prstGeom prst="rect">
            <a:avLst/>
          </a:prstGeom>
          <a:noFill/>
        </p:spPr>
        <p:txBody>
          <a:bodyPr wrap="square" rtlCol="0">
            <a:spAutoFit/>
          </a:bodyPr>
          <a:lstStyle/>
          <a:p>
            <a:pPr algn="l">
              <a:lnSpc>
                <a:spcPts val="3600"/>
              </a:lnSpc>
            </a:pPr>
            <a:r>
              <a:rPr lang="en-AU" sz="3200" b="1" i="0" u="none" strike="noStrike" baseline="0">
                <a:solidFill>
                  <a:schemeClr val="bg1"/>
                </a:solidFill>
                <a:latin typeface="+mj-lt"/>
              </a:rPr>
              <a:t>Forward Looking Statements</a:t>
            </a:r>
          </a:p>
          <a:p>
            <a:pPr algn="l">
              <a:lnSpc>
                <a:spcPts val="3600"/>
              </a:lnSpc>
            </a:pPr>
            <a:r>
              <a:rPr lang="en-AU" sz="3200" b="1" i="0" u="none" strike="noStrike" baseline="0">
                <a:solidFill>
                  <a:schemeClr val="tx2"/>
                </a:solidFill>
                <a:latin typeface="+mj-lt"/>
              </a:rPr>
              <a:t>Disclaimer</a:t>
            </a:r>
            <a:endParaRPr lang="en-AU" sz="3200">
              <a:solidFill>
                <a:schemeClr val="tx2"/>
              </a:solidFill>
              <a:latin typeface="+mj-lt"/>
            </a:endParaRPr>
          </a:p>
        </p:txBody>
      </p:sp>
      <p:sp>
        <p:nvSpPr>
          <p:cNvPr id="10" name="TextBox 9">
            <a:extLst>
              <a:ext uri="{FF2B5EF4-FFF2-40B4-BE49-F238E27FC236}">
                <a16:creationId xmlns:a16="http://schemas.microsoft.com/office/drawing/2014/main" id="{17CC932F-69DC-42EE-BA72-E79C7DBCD454}"/>
              </a:ext>
            </a:extLst>
          </p:cNvPr>
          <p:cNvSpPr txBox="1"/>
          <p:nvPr userDrawn="1"/>
        </p:nvSpPr>
        <p:spPr>
          <a:xfrm>
            <a:off x="4639224" y="1442073"/>
            <a:ext cx="6857278" cy="5106591"/>
          </a:xfrm>
          <a:prstGeom prst="rect">
            <a:avLst/>
          </a:prstGeom>
          <a:noFill/>
        </p:spPr>
        <p:txBody>
          <a:bodyPr wrap="square" rtlCol="0">
            <a:spAutoFit/>
          </a:bodyPr>
          <a:lstStyle/>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Important Notice</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The purpose of this presentation is to provide general information about Fortescue Metals Group Ltd (“Fortescue”). It is not recommended that any person makes any investment decision in relation to Fortescue based on this presentation. This presentation contains certain statements which may constitute “forward-looking statements”. Such statements are only predictions and are subject to inherent risks and uncertainties which could cause actual values, results, performance or achievements to differ materially from those expressed, implied or projected in any forward-looking statements. No representation or warranty, express or implied, is made by Fortescue that the material contained in this presentation will be achieved or prove to be correct. Except for statutory liability which cannot be excluded, each of Fortescue, its officers, employees and advisers expressly disclaims any responsibility for the accuracy or completeness of the material contained in this presentation and excludes all liability whatsoever (including in negligence) for any loss or damage which may be suffered by any person as a consequence of any information in this presentation or any error or omission therefrom. Fortescue accepts no responsibility to update any person regarding any inaccuracy, omission or change in information in this presentation or any other information made available to a person nor any obligation to furnish the person with any further information.</a:t>
            </a:r>
          </a:p>
          <a:p>
            <a:pPr algn="just">
              <a:lnSpc>
                <a:spcPts val="1400"/>
              </a:lnSpc>
            </a:pPr>
            <a:endParaRPr lang="en-US" sz="1100" b="0" i="0" u="none" strike="noStrike" baseline="0">
              <a:solidFill>
                <a:srgbClr val="000000"/>
              </a:solidFill>
              <a:latin typeface="Arial" panose="020B0604020202020204" pitchFamily="34" charset="0"/>
              <a:cs typeface="Arial" panose="020B0604020202020204" pitchFamily="34" charset="0"/>
            </a:endParaRPr>
          </a:p>
          <a:p>
            <a:pPr algn="just">
              <a:lnSpc>
                <a:spcPts val="1400"/>
              </a:lnSpc>
            </a:pPr>
            <a:r>
              <a:rPr lang="en-AU" sz="1400" b="1" i="0" u="none" strike="noStrike" baseline="0">
                <a:solidFill>
                  <a:srgbClr val="418FDE"/>
                </a:solidFill>
                <a:latin typeface="Arial" panose="020B0604020202020204" pitchFamily="34" charset="0"/>
                <a:cs typeface="Arial" panose="020B0604020202020204" pitchFamily="34" charset="0"/>
              </a:rPr>
              <a:t>Additional Information</a:t>
            </a:r>
          </a:p>
          <a:p>
            <a:pPr algn="just">
              <a:lnSpc>
                <a:spcPts val="1400"/>
              </a:lnSpc>
            </a:pPr>
            <a:r>
              <a:rPr lang="en-US" sz="1100" b="0" i="0" u="none" strike="noStrike" baseline="0">
                <a:solidFill>
                  <a:srgbClr val="000000"/>
                </a:solidFill>
                <a:latin typeface="Arial" panose="020B0604020202020204" pitchFamily="34" charset="0"/>
                <a:cs typeface="Arial" panose="020B0604020202020204" pitchFamily="34" charset="0"/>
              </a:rPr>
              <a:t>This presentation should be read in conjunction with the Annual Report at 30 June 2021 together with any announcements made by Fortescue in accordance with its continuous disclosure obligations arising under the Corporations Act 2001 and ASX Listing Rules. Any references to reserve and resources estimations should be read in conjunction with Fortescue’s Ore Reserves and Mineral Resources statements released to the Australian Securities Exchange on 27 August 2021. Fortescue confirms in the subsequent public report that it is not aware of any new information or data that materially affects the information included in the relevant market announcement and, in the case of estimates of mineral resources or ore reserves, that all material assumptions and technical parameters underpinning the estimates in the relevant market announcement continue to apply and have not materially changed. All amounts within this presentation are stated in United States Dollars consistent with the functional currency of Fortescue Metals Group Ltd, unless otherwise stated. Tables contained within this presentation may contain immaterial rounding differences.</a:t>
            </a:r>
          </a:p>
        </p:txBody>
      </p:sp>
    </p:spTree>
    <p:extLst>
      <p:ext uri="{BB962C8B-B14F-4D97-AF65-F5344CB8AC3E}">
        <p14:creationId xmlns:p14="http://schemas.microsoft.com/office/powerpoint/2010/main" val="1265882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177502AC-9D3C-46AA-A3FA-0470D8E2BF1A}"/>
              </a:ext>
            </a:extLst>
          </p:cNvPr>
          <p:cNvSpPr>
            <a:spLocks noGrp="1"/>
          </p:cNvSpPr>
          <p:nvPr>
            <p:ph sz="quarter" idx="4"/>
          </p:nvPr>
        </p:nvSpPr>
        <p:spPr>
          <a:xfrm>
            <a:off x="399007" y="1820487"/>
            <a:ext cx="10095612"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8">
            <a:extLst>
              <a:ext uri="{FF2B5EF4-FFF2-40B4-BE49-F238E27FC236}">
                <a16:creationId xmlns:a16="http://schemas.microsoft.com/office/drawing/2014/main" id="{DB546702-760A-413E-8B37-8F04EF3A84D8}"/>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8" name="Text Placeholder 8">
            <a:extLst>
              <a:ext uri="{FF2B5EF4-FFF2-40B4-BE49-F238E27FC236}">
                <a16:creationId xmlns:a16="http://schemas.microsoft.com/office/drawing/2014/main" id="{6677E750-AA69-43BA-8093-939BFCDB23F5}"/>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329618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amp; 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0FA3B5-92C6-41D7-9E17-36663677FD8B}"/>
              </a:ext>
            </a:extLst>
          </p:cNvPr>
          <p:cNvSpPr/>
          <p:nvPr userDrawn="1"/>
        </p:nvSpPr>
        <p:spPr>
          <a:xfrm>
            <a:off x="0" y="0"/>
            <a:ext cx="266700" cy="15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 Placeholder 8">
            <a:extLst>
              <a:ext uri="{FF2B5EF4-FFF2-40B4-BE49-F238E27FC236}">
                <a16:creationId xmlns:a16="http://schemas.microsoft.com/office/drawing/2014/main" id="{21358A9E-0AD2-47B5-B86D-0D8922655C19}"/>
              </a:ext>
            </a:extLst>
          </p:cNvPr>
          <p:cNvSpPr>
            <a:spLocks noGrp="1"/>
          </p:cNvSpPr>
          <p:nvPr>
            <p:ph type="body" sz="quarter" idx="11"/>
          </p:nvPr>
        </p:nvSpPr>
        <p:spPr>
          <a:xfrm>
            <a:off x="399007" y="1328286"/>
            <a:ext cx="9017134" cy="299258"/>
          </a:xfrm>
          <a:prstGeom prst="rect">
            <a:avLst/>
          </a:prstGeom>
        </p:spPr>
        <p:txBody>
          <a:bodyPr anchor="ctr"/>
          <a:lstStyle>
            <a:lvl1pPr marL="0" indent="0">
              <a:lnSpc>
                <a:spcPts val="2400"/>
              </a:lnSpc>
              <a:spcBef>
                <a:spcPts val="0"/>
              </a:spcBef>
              <a:buNone/>
              <a:defRPr sz="2000" b="1">
                <a:solidFill>
                  <a:schemeClr val="accent1"/>
                </a:solidFill>
              </a:defRPr>
            </a:lvl1pPr>
          </a:lstStyle>
          <a:p>
            <a:pPr lvl="0"/>
            <a:r>
              <a:rPr lang="en-US"/>
              <a:t>Click to edit Master text styles</a:t>
            </a:r>
          </a:p>
        </p:txBody>
      </p:sp>
      <p:sp>
        <p:nvSpPr>
          <p:cNvPr id="14" name="Text Placeholder 12">
            <a:extLst>
              <a:ext uri="{FF2B5EF4-FFF2-40B4-BE49-F238E27FC236}">
                <a16:creationId xmlns:a16="http://schemas.microsoft.com/office/drawing/2014/main" id="{F201F6FE-6778-4B04-9FDE-10F5F16939E2}"/>
              </a:ext>
            </a:extLst>
          </p:cNvPr>
          <p:cNvSpPr>
            <a:spLocks noGrp="1"/>
          </p:cNvSpPr>
          <p:nvPr>
            <p:ph type="body" sz="quarter" idx="12"/>
          </p:nvPr>
        </p:nvSpPr>
        <p:spPr>
          <a:xfrm>
            <a:off x="399006"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marL="1143000" indent="-228600">
              <a:lnSpc>
                <a:spcPts val="2200"/>
              </a:lnSpc>
              <a:spcBef>
                <a:spcPts val="0"/>
              </a:spcBef>
              <a:spcAft>
                <a:spcPts val="600"/>
              </a:spcAft>
              <a:buFont typeface="Arial" panose="020B0604020202020204" pitchFamily="34" charset="0"/>
              <a:buChar char="•"/>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vl5pPr marL="2057400" indent="-228600">
              <a:lnSpc>
                <a:spcPts val="2200"/>
              </a:lnSpc>
              <a:spcBef>
                <a:spcPts val="0"/>
              </a:spcBef>
              <a:spcAft>
                <a:spcPts val="600"/>
              </a:spcAft>
              <a:buFont typeface="Arial" panose="020B0604020202020204" pitchFamily="34" charset="0"/>
              <a:buChar char="–"/>
              <a:defRPr sz="18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5">
            <a:extLst>
              <a:ext uri="{FF2B5EF4-FFF2-40B4-BE49-F238E27FC236}">
                <a16:creationId xmlns:a16="http://schemas.microsoft.com/office/drawing/2014/main" id="{BAE18FC4-72C6-4CBE-AB8F-F83788C8A646}"/>
              </a:ext>
            </a:extLst>
          </p:cNvPr>
          <p:cNvSpPr>
            <a:spLocks noGrp="1"/>
          </p:cNvSpPr>
          <p:nvPr>
            <p:ph sz="quarter" idx="4"/>
          </p:nvPr>
        </p:nvSpPr>
        <p:spPr>
          <a:xfrm>
            <a:off x="5586149" y="1820487"/>
            <a:ext cx="4908469" cy="4729941"/>
          </a:xfrm>
          <a:prstGeom prst="rect">
            <a:avLst/>
          </a:prstGeom>
        </p:spPr>
        <p:txBody>
          <a:bodyPr/>
          <a:lstStyle>
            <a:lvl1pPr>
              <a:lnSpc>
                <a:spcPts val="2400"/>
              </a:lnSpc>
              <a:spcBef>
                <a:spcPts val="0"/>
              </a:spcBef>
              <a:spcAft>
                <a:spcPts val="600"/>
              </a:spcAft>
              <a:defRPr sz="2000">
                <a:solidFill>
                  <a:schemeClr val="tx2"/>
                </a:solidFill>
              </a:defRPr>
            </a:lvl1pPr>
            <a:lvl2pPr marL="685800" indent="-228600">
              <a:lnSpc>
                <a:spcPts val="2200"/>
              </a:lnSpc>
              <a:spcBef>
                <a:spcPts val="0"/>
              </a:spcBef>
              <a:spcAft>
                <a:spcPts val="600"/>
              </a:spcAft>
              <a:buFont typeface="Arial" panose="020B0604020202020204" pitchFamily="34" charset="0"/>
              <a:buChar char="–"/>
              <a:defRPr sz="1800">
                <a:solidFill>
                  <a:schemeClr val="tx2"/>
                </a:solidFill>
              </a:defRPr>
            </a:lvl2pPr>
            <a:lvl3pPr>
              <a:lnSpc>
                <a:spcPts val="2200"/>
              </a:lnSpc>
              <a:spcBef>
                <a:spcPts val="0"/>
              </a:spcBef>
              <a:spcAft>
                <a:spcPts val="600"/>
              </a:spcAft>
              <a:defRPr sz="1800">
                <a:solidFill>
                  <a:schemeClr val="tx2"/>
                </a:solidFill>
              </a:defRPr>
            </a:lvl3pPr>
            <a:lvl4pPr marL="1600200" indent="-228600">
              <a:lnSpc>
                <a:spcPts val="2200"/>
              </a:lnSpc>
              <a:spcBef>
                <a:spcPts val="0"/>
              </a:spcBef>
              <a:spcAft>
                <a:spcPts val="600"/>
              </a:spcAft>
              <a:buFont typeface="Arial" panose="020B0604020202020204" pitchFamily="34" charset="0"/>
              <a:buChar char="–"/>
              <a:defRPr sz="1800">
                <a:solidFill>
                  <a:schemeClr val="tx2"/>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8">
            <a:extLst>
              <a:ext uri="{FF2B5EF4-FFF2-40B4-BE49-F238E27FC236}">
                <a16:creationId xmlns:a16="http://schemas.microsoft.com/office/drawing/2014/main" id="{C6D5DC8B-118C-4545-AE7B-BAD68091E243}"/>
              </a:ext>
            </a:extLst>
          </p:cNvPr>
          <p:cNvSpPr>
            <a:spLocks noGrp="1"/>
          </p:cNvSpPr>
          <p:nvPr>
            <p:ph type="body" sz="quarter" idx="10"/>
          </p:nvPr>
        </p:nvSpPr>
        <p:spPr>
          <a:xfrm>
            <a:off x="399010" y="216131"/>
            <a:ext cx="9017133" cy="1043672"/>
          </a:xfrm>
          <a:prstGeom prst="rect">
            <a:avLst/>
          </a:prstGeom>
        </p:spPr>
        <p:txBody>
          <a:bodyPr anchor="b"/>
          <a:lstStyle>
            <a:lvl1pPr marL="0" indent="0">
              <a:lnSpc>
                <a:spcPts val="3600"/>
              </a:lnSpc>
              <a:spcBef>
                <a:spcPts val="0"/>
              </a:spcBef>
              <a:buNone/>
              <a:defRPr sz="32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71470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6170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07361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Small single headin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47503" y="0"/>
            <a:ext cx="1346200" cy="6858000"/>
          </a:xfrm>
          <a:prstGeom prst="rect">
            <a:avLst/>
          </a:prstGeom>
        </p:spPr>
      </p:pic>
      <p:sp>
        <p:nvSpPr>
          <p:cNvPr id="16" name="Text Placeholder 14"/>
          <p:cNvSpPr>
            <a:spLocks noGrp="1"/>
          </p:cNvSpPr>
          <p:nvPr>
            <p:ph type="body" sz="quarter" idx="15" hasCustomPrompt="1"/>
          </p:nvPr>
        </p:nvSpPr>
        <p:spPr>
          <a:xfrm>
            <a:off x="335360" y="451959"/>
            <a:ext cx="9409045" cy="864807"/>
          </a:xfrm>
          <a:prstGeom prst="rect">
            <a:avLst/>
          </a:prstGeom>
        </p:spPr>
        <p:txBody>
          <a:bodyPr/>
          <a:lstStyle>
            <a:lvl1pPr marL="0" indent="0">
              <a:lnSpc>
                <a:spcPts val="5333"/>
              </a:lnSpc>
              <a:buNone/>
              <a:defRPr sz="3200" b="1" baseline="0">
                <a:solidFill>
                  <a:srgbClr val="112843"/>
                </a:solidFill>
              </a:defRPr>
            </a:lvl1pPr>
            <a:lvl2pPr>
              <a:defRPr sz="2400" b="1"/>
            </a:lvl2pPr>
            <a:lvl3pPr>
              <a:defRPr sz="2400" b="1"/>
            </a:lvl3pPr>
            <a:lvl4pPr>
              <a:defRPr sz="2400" b="1"/>
            </a:lvl4pPr>
            <a:lvl5pPr>
              <a:defRPr sz="2400" b="1"/>
            </a:lvl5pPr>
          </a:lstStyle>
          <a:p>
            <a:pPr lvl="0"/>
            <a:r>
              <a:rPr lang="en-US"/>
              <a:t>Single line small heading with sub and bullets</a:t>
            </a:r>
          </a:p>
        </p:txBody>
      </p:sp>
      <p:cxnSp>
        <p:nvCxnSpPr>
          <p:cNvPr id="17" name="Straight Connector 16"/>
          <p:cNvCxnSpPr/>
          <p:nvPr userDrawn="1"/>
        </p:nvCxnSpPr>
        <p:spPr>
          <a:xfrm>
            <a:off x="431371" y="1508787"/>
            <a:ext cx="2784309" cy="0"/>
          </a:xfrm>
          <a:prstGeom prst="line">
            <a:avLst/>
          </a:prstGeom>
          <a:ln w="76200">
            <a:solidFill>
              <a:srgbClr val="418FDE"/>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11232571" y="5925277"/>
            <a:ext cx="576064" cy="576064"/>
          </a:xfrm>
          <a:prstGeom prst="rect">
            <a:avLst/>
          </a:prstGeom>
          <a:solidFill>
            <a:srgbClr val="A2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13" name="Slide Number Placeholder 3"/>
          <p:cNvSpPr>
            <a:spLocks noGrp="1"/>
          </p:cNvSpPr>
          <p:nvPr>
            <p:ph type="sldNum" sz="quarter" idx="12"/>
          </p:nvPr>
        </p:nvSpPr>
        <p:spPr>
          <a:xfrm>
            <a:off x="11184565" y="6021288"/>
            <a:ext cx="672075" cy="384043"/>
          </a:xfrm>
          <a:prstGeom prst="rect">
            <a:avLst/>
          </a:prstGeom>
        </p:spPr>
        <p:txBody>
          <a:bodyPr anchor="ctr"/>
          <a:lstStyle>
            <a:lvl1pPr algn="ctr">
              <a:defRPr sz="1867" b="1">
                <a:solidFill>
                  <a:schemeClr val="bg1"/>
                </a:solidFill>
                <a:latin typeface="Arial" pitchFamily="34" charset="0"/>
                <a:cs typeface="Arial" pitchFamily="34" charset="0"/>
              </a:defRPr>
            </a:lvl1pPr>
          </a:lstStyle>
          <a:p>
            <a:fld id="{5F8B1100-BE29-48E9-83FF-7ABA88FA7A4E}" type="slidenum">
              <a:rPr lang="en-US" smtClean="0"/>
              <a:pPr/>
              <a:t>‹#›</a:t>
            </a:fld>
            <a:endParaRPr lang="en-AU"/>
          </a:p>
        </p:txBody>
      </p:sp>
      <p:sp>
        <p:nvSpPr>
          <p:cNvPr id="9" name="Text Placeholder 14"/>
          <p:cNvSpPr>
            <a:spLocks noGrp="1"/>
          </p:cNvSpPr>
          <p:nvPr>
            <p:ph type="body" sz="quarter" idx="14" hasCustomPrompt="1"/>
          </p:nvPr>
        </p:nvSpPr>
        <p:spPr>
          <a:xfrm>
            <a:off x="335360" y="1892829"/>
            <a:ext cx="9409045" cy="384043"/>
          </a:xfrm>
          <a:prstGeom prst="rect">
            <a:avLst/>
          </a:prstGeom>
        </p:spPr>
        <p:txBody>
          <a:bodyPr/>
          <a:lstStyle>
            <a:lvl1pPr marL="0" marR="0" indent="0" algn="l" defTabSz="1219170" rtl="0" eaLnBrk="1" fontAlgn="auto" latinLnBrk="0" hangingPunct="1">
              <a:lnSpc>
                <a:spcPts val="1267"/>
              </a:lnSpc>
              <a:spcBef>
                <a:spcPts val="0"/>
              </a:spcBef>
              <a:spcAft>
                <a:spcPts val="667"/>
              </a:spcAft>
              <a:buClrTx/>
              <a:buSzTx/>
              <a:buFont typeface="Arial" charset="0"/>
              <a:buNone/>
              <a:tabLst/>
              <a:defRPr sz="2133" b="1">
                <a:solidFill>
                  <a:srgbClr val="418FDE"/>
                </a:solidFill>
              </a:defRPr>
            </a:lvl1pPr>
            <a:lvl2pPr>
              <a:defRPr sz="2400" b="1"/>
            </a:lvl2pPr>
            <a:lvl3pPr>
              <a:defRPr sz="2400" b="1"/>
            </a:lvl3pPr>
            <a:lvl4pPr>
              <a:defRPr sz="2400" b="1"/>
            </a:lvl4pPr>
            <a:lvl5pPr>
              <a:defRPr sz="2400" b="1"/>
            </a:lvl5pPr>
          </a:lstStyle>
          <a:p>
            <a:pPr lvl="0"/>
            <a:r>
              <a:rPr lang="en-US"/>
              <a:t>Click to edit master text styles</a:t>
            </a:r>
          </a:p>
          <a:p>
            <a:pPr lvl="0"/>
            <a:endParaRPr lang="en-US"/>
          </a:p>
        </p:txBody>
      </p:sp>
      <p:sp>
        <p:nvSpPr>
          <p:cNvPr id="11" name="Text Placeholder 10"/>
          <p:cNvSpPr>
            <a:spLocks noGrp="1"/>
          </p:cNvSpPr>
          <p:nvPr>
            <p:ph type="body" sz="quarter" idx="16" hasCustomPrompt="1"/>
          </p:nvPr>
        </p:nvSpPr>
        <p:spPr>
          <a:xfrm>
            <a:off x="335360" y="2441510"/>
            <a:ext cx="9409045" cy="3963821"/>
          </a:xfrm>
          <a:prstGeom prst="rect">
            <a:avLst/>
          </a:prstGeom>
        </p:spPr>
        <p:txBody>
          <a:bodyPr/>
          <a:lstStyle>
            <a:lvl1pPr marL="457189" marR="0" indent="-457189"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sz="2000">
                <a:solidFill>
                  <a:srgbClr val="13294B"/>
                </a:solidFill>
                <a:latin typeface="+mn-lt"/>
              </a:defRPr>
            </a:lvl1pPr>
            <a:lvl2pPr>
              <a:defRPr sz="2000">
                <a:solidFill>
                  <a:srgbClr val="13294B"/>
                </a:solidFill>
              </a:defRPr>
            </a:lvl2pPr>
            <a:lvl3pPr>
              <a:defRPr sz="2000">
                <a:solidFill>
                  <a:srgbClr val="13294B"/>
                </a:solidFill>
              </a:defRPr>
            </a:lvl3pPr>
            <a:lvl4pPr>
              <a:defRPr sz="2000">
                <a:solidFill>
                  <a:srgbClr val="13294B"/>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76096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Front Cov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6BD8AB-0D10-440A-8828-24A6F554772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3545C460-E577-495F-83DF-DA43DA42ED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42035" y="797607"/>
            <a:ext cx="2969428" cy="1116918"/>
          </a:xfrm>
          <a:prstGeom prst="rect">
            <a:avLst/>
          </a:prstGeom>
        </p:spPr>
      </p:pic>
      <p:sp>
        <p:nvSpPr>
          <p:cNvPr id="14" name="Text Placeholder 13">
            <a:extLst>
              <a:ext uri="{FF2B5EF4-FFF2-40B4-BE49-F238E27FC236}">
                <a16:creationId xmlns:a16="http://schemas.microsoft.com/office/drawing/2014/main" id="{4A783F70-7977-40B3-AC62-D6F0ADABC7B6}"/>
              </a:ext>
            </a:extLst>
          </p:cNvPr>
          <p:cNvSpPr>
            <a:spLocks noGrp="1"/>
          </p:cNvSpPr>
          <p:nvPr>
            <p:ph type="body" sz="quarter" idx="13" hasCustomPrompt="1"/>
          </p:nvPr>
        </p:nvSpPr>
        <p:spPr>
          <a:xfrm>
            <a:off x="733168" y="2233428"/>
            <a:ext cx="5353964" cy="2069867"/>
          </a:xfrm>
          <a:prstGeom prst="rect">
            <a:avLst/>
          </a:prstGeom>
        </p:spPr>
        <p:txBody>
          <a:bodyPr anchor="ctr"/>
          <a:lstStyle>
            <a:lvl1pPr marL="0" indent="0">
              <a:lnSpc>
                <a:spcPct val="100000"/>
              </a:lnSpc>
              <a:spcBef>
                <a:spcPts val="0"/>
              </a:spcBef>
              <a:spcAft>
                <a:spcPts val="600"/>
              </a:spcAft>
              <a:buNone/>
              <a:defRPr sz="4000" b="1">
                <a:solidFill>
                  <a:schemeClr val="accent4"/>
                </a:solidFill>
                <a:latin typeface="+mj-lt"/>
              </a:defRPr>
            </a:lvl1pPr>
          </a:lstStyle>
          <a:p>
            <a:pPr lvl="0"/>
            <a:r>
              <a:rPr lang="en-US"/>
              <a:t>Click to edit </a:t>
            </a:r>
            <a:br>
              <a:rPr lang="en-US"/>
            </a:br>
            <a:r>
              <a:rPr lang="en-US"/>
              <a:t>Master text styles</a:t>
            </a:r>
          </a:p>
        </p:txBody>
      </p:sp>
      <p:sp>
        <p:nvSpPr>
          <p:cNvPr id="6" name="TextBox 5">
            <a:extLst>
              <a:ext uri="{FF2B5EF4-FFF2-40B4-BE49-F238E27FC236}">
                <a16:creationId xmlns:a16="http://schemas.microsoft.com/office/drawing/2014/main" id="{FBAD7693-6BE9-448D-B833-7CB06CB0F087}"/>
              </a:ext>
            </a:extLst>
          </p:cNvPr>
          <p:cNvSpPr txBox="1"/>
          <p:nvPr userDrawn="1"/>
        </p:nvSpPr>
        <p:spPr>
          <a:xfrm>
            <a:off x="647443" y="5860338"/>
            <a:ext cx="5922374" cy="400110"/>
          </a:xfrm>
          <a:prstGeom prst="rect">
            <a:avLst/>
          </a:prstGeom>
          <a:noFill/>
        </p:spPr>
        <p:txBody>
          <a:bodyPr wrap="square" rtlCol="0">
            <a:spAutoFit/>
          </a:bodyPr>
          <a:lstStyle/>
          <a:p>
            <a:r>
              <a:rPr lang="en-AU" sz="2000" b="1">
                <a:solidFill>
                  <a:schemeClr val="tx2"/>
                </a:solidFill>
              </a:rPr>
              <a:t>Thriving communities  |  Global force</a:t>
            </a:r>
          </a:p>
        </p:txBody>
      </p:sp>
      <p:sp>
        <p:nvSpPr>
          <p:cNvPr id="2" name="TextBox 1">
            <a:extLst>
              <a:ext uri="{FF2B5EF4-FFF2-40B4-BE49-F238E27FC236}">
                <a16:creationId xmlns:a16="http://schemas.microsoft.com/office/drawing/2014/main" id="{71D39FCA-3746-46A1-ABA6-C009ED87F285}"/>
              </a:ext>
            </a:extLst>
          </p:cNvPr>
          <p:cNvSpPr txBox="1"/>
          <p:nvPr userDrawn="1"/>
        </p:nvSpPr>
        <p:spPr>
          <a:xfrm>
            <a:off x="647443" y="6536723"/>
            <a:ext cx="1243577" cy="169277"/>
          </a:xfrm>
          <a:prstGeom prst="rect">
            <a:avLst/>
          </a:prstGeom>
          <a:noFill/>
        </p:spPr>
        <p:txBody>
          <a:bodyPr wrap="square" rtlCol="0">
            <a:spAutoFit/>
          </a:bodyPr>
          <a:lstStyle/>
          <a:p>
            <a:pPr algn="l"/>
            <a:r>
              <a:rPr lang="en-AU" sz="500">
                <a:solidFill>
                  <a:schemeClr val="tx2"/>
                </a:solidFill>
              </a:rPr>
              <a:t>100-TE-AD-0016_0</a:t>
            </a:r>
          </a:p>
        </p:txBody>
      </p:sp>
      <p:sp>
        <p:nvSpPr>
          <p:cNvPr id="11" name="Text Placeholder 5">
            <a:extLst>
              <a:ext uri="{FF2B5EF4-FFF2-40B4-BE49-F238E27FC236}">
                <a16:creationId xmlns:a16="http://schemas.microsoft.com/office/drawing/2014/main" id="{FB38A6F1-DB92-4E40-AF4D-44C5F317296E}"/>
              </a:ext>
            </a:extLst>
          </p:cNvPr>
          <p:cNvSpPr>
            <a:spLocks noGrp="1"/>
          </p:cNvSpPr>
          <p:nvPr>
            <p:ph type="body" sz="quarter" idx="23" hasCustomPrompt="1"/>
          </p:nvPr>
        </p:nvSpPr>
        <p:spPr>
          <a:xfrm>
            <a:off x="742036" y="4991176"/>
            <a:ext cx="5353964" cy="532015"/>
          </a:xfrm>
          <a:prstGeom prst="rect">
            <a:avLst/>
          </a:prstGeom>
        </p:spPr>
        <p:txBody>
          <a:bodyPr lIns="0" tIns="0" rIns="0" bIns="0" anchor="b">
            <a:noAutofit/>
          </a:bodyPr>
          <a:lstStyle>
            <a:lvl1pPr marL="0" indent="0">
              <a:lnSpc>
                <a:spcPts val="2200"/>
              </a:lnSpc>
              <a:spcBef>
                <a:spcPts val="0"/>
              </a:spcBef>
              <a:buNone/>
              <a:defRPr sz="1600" b="1">
                <a:solidFill>
                  <a:schemeClr val="tx2"/>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a:t>Insert name</a:t>
            </a:r>
          </a:p>
          <a:p>
            <a:pPr lvl="0"/>
            <a:r>
              <a:rPr lang="en-US"/>
              <a:t>Insert date</a:t>
            </a:r>
          </a:p>
        </p:txBody>
      </p:sp>
    </p:spTree>
    <p:extLst>
      <p:ext uri="{BB962C8B-B14F-4D97-AF65-F5344CB8AC3E}">
        <p14:creationId xmlns:p14="http://schemas.microsoft.com/office/powerpoint/2010/main" val="1823457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ack Cover">
    <p:spTree>
      <p:nvGrpSpPr>
        <p:cNvPr id="1" name=""/>
        <p:cNvGrpSpPr/>
        <p:nvPr/>
      </p:nvGrpSpPr>
      <p:grpSpPr>
        <a:xfrm>
          <a:off x="0" y="0"/>
          <a:ext cx="0" cy="0"/>
          <a:chOff x="0" y="0"/>
          <a:chExt cx="0" cy="0"/>
        </a:xfrm>
      </p:grpSpPr>
      <p:pic>
        <p:nvPicPr>
          <p:cNvPr id="4" name="Picture 3" descr="A picture containing tree, outdoor, person, grass&#10;&#10;Description automatically generated">
            <a:extLst>
              <a:ext uri="{FF2B5EF4-FFF2-40B4-BE49-F238E27FC236}">
                <a16:creationId xmlns:a16="http://schemas.microsoft.com/office/drawing/2014/main" id="{2368637D-3E86-4F91-9A07-9204712592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7686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Logo&#10;&#10;Description automatically generated with medium confidence">
            <a:extLst>
              <a:ext uri="{FF2B5EF4-FFF2-40B4-BE49-F238E27FC236}">
                <a16:creationId xmlns:a16="http://schemas.microsoft.com/office/drawing/2014/main" id="{16F24D4A-53C1-495A-A425-0F5C7357976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69871" y="335838"/>
            <a:ext cx="1860804" cy="699921"/>
          </a:xfrm>
          <a:prstGeom prst="rect">
            <a:avLst/>
          </a:prstGeom>
        </p:spPr>
      </p:pic>
      <p:sp>
        <p:nvSpPr>
          <p:cNvPr id="8" name="Slide Number Placeholder 3">
            <a:extLst>
              <a:ext uri="{FF2B5EF4-FFF2-40B4-BE49-F238E27FC236}">
                <a16:creationId xmlns:a16="http://schemas.microsoft.com/office/drawing/2014/main" id="{8094C170-2D64-4A62-89A4-7351FFC13EB0}"/>
              </a:ext>
            </a:extLst>
          </p:cNvPr>
          <p:cNvSpPr txBox="1">
            <a:spLocks/>
          </p:cNvSpPr>
          <p:nvPr userDrawn="1"/>
        </p:nvSpPr>
        <p:spPr>
          <a:xfrm>
            <a:off x="11208262" y="6371776"/>
            <a:ext cx="672075" cy="384043"/>
          </a:xfrm>
          <a:prstGeom prst="rect">
            <a:avLst/>
          </a:prstGeom>
        </p:spPr>
        <p:txBody>
          <a:bodyPr anchor="ctr"/>
          <a:lstStyle>
            <a:defPPr>
              <a:defRPr lang="en-US"/>
            </a:defPPr>
            <a:lvl1pPr marL="0" algn="ctr" defTabSz="914400" rtl="0" eaLnBrk="1" latinLnBrk="0" hangingPunct="1">
              <a:defRPr sz="1000" b="1" kern="1200">
                <a:solidFill>
                  <a:schemeClr val="bg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F8B1100-BE29-48E9-83FF-7ABA88FA7A4E}" type="slidenum">
              <a:rPr lang="en-US" sz="1200" smtClean="0">
                <a:solidFill>
                  <a:srgbClr val="13294B"/>
                </a:solidFill>
              </a:rPr>
              <a:pPr/>
              <a:t>‹#›</a:t>
            </a:fld>
            <a:endParaRPr lang="en-AU">
              <a:solidFill>
                <a:srgbClr val="13294B"/>
              </a:solidFill>
            </a:endParaRPr>
          </a:p>
        </p:txBody>
      </p:sp>
      <p:sp>
        <p:nvSpPr>
          <p:cNvPr id="4" name="Rectangle 3">
            <a:extLst>
              <a:ext uri="{FF2B5EF4-FFF2-40B4-BE49-F238E27FC236}">
                <a16:creationId xmlns:a16="http://schemas.microsoft.com/office/drawing/2014/main" id="{B1E31F4C-CD8D-4A50-9731-8310F5A58DBE}"/>
              </a:ext>
            </a:extLst>
          </p:cNvPr>
          <p:cNvSpPr/>
          <p:nvPr userDrawn="1"/>
        </p:nvSpPr>
        <p:spPr>
          <a:xfrm>
            <a:off x="11937206" y="0"/>
            <a:ext cx="254795" cy="6858000"/>
          </a:xfrm>
          <a:prstGeom prst="rect">
            <a:avLst/>
          </a:prstGeom>
          <a:solidFill>
            <a:srgbClr val="132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91286427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1" r:id="rId3"/>
    <p:sldLayoutId id="2147483672" r:id="rId4"/>
    <p:sldLayoutId id="2147483673" r:id="rId5"/>
    <p:sldLayoutId id="2147483674" r:id="rId6"/>
    <p:sldLayoutId id="2147483661" r:id="rId7"/>
    <p:sldLayoutId id="2147483663" r:id="rId8"/>
    <p:sldLayoutId id="214748366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FD38FD0-C7A1-4969-8FC5-090DC0408E0E}"/>
              </a:ext>
            </a:extLst>
          </p:cNvPr>
          <p:cNvSpPr>
            <a:spLocks noGrp="1"/>
          </p:cNvSpPr>
          <p:nvPr>
            <p:ph type="body" sz="quarter" idx="23"/>
          </p:nvPr>
        </p:nvSpPr>
        <p:spPr/>
        <p:txBody>
          <a:bodyPr/>
          <a:lstStyle/>
          <a:p>
            <a:endParaRPr lang="en-AU" dirty="0"/>
          </a:p>
        </p:txBody>
      </p:sp>
      <p:sp>
        <p:nvSpPr>
          <p:cNvPr id="5" name="Text Placeholder 4">
            <a:extLst>
              <a:ext uri="{FF2B5EF4-FFF2-40B4-BE49-F238E27FC236}">
                <a16:creationId xmlns:a16="http://schemas.microsoft.com/office/drawing/2014/main" id="{86DA4E12-628C-3042-8E0E-3E49A75FE6AE}"/>
              </a:ext>
            </a:extLst>
          </p:cNvPr>
          <p:cNvSpPr>
            <a:spLocks noGrp="1"/>
          </p:cNvSpPr>
          <p:nvPr>
            <p:ph type="body" sz="quarter" idx="13"/>
          </p:nvPr>
        </p:nvSpPr>
        <p:spPr>
          <a:xfrm>
            <a:off x="363415" y="3075056"/>
            <a:ext cx="9124597" cy="707886"/>
          </a:xfrm>
        </p:spPr>
        <p:txBody>
          <a:bodyPr>
            <a:spAutoFit/>
          </a:bodyPr>
          <a:lstStyle/>
          <a:p>
            <a:endParaRPr lang="en-US" dirty="0"/>
          </a:p>
        </p:txBody>
      </p:sp>
    </p:spTree>
    <p:extLst>
      <p:ext uri="{BB962C8B-B14F-4D97-AF65-F5344CB8AC3E}">
        <p14:creationId xmlns:p14="http://schemas.microsoft.com/office/powerpoint/2010/main" val="1986131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sz="2400" dirty="0"/>
              <a:t>MMMMMMMMMMMMMMMMMMMMMMMMMMMMMMMMMMMMMMMMMMMMMMMMMMMMMMMMMMMM</a:t>
            </a:r>
          </a:p>
        </p:txBody>
      </p:sp>
      <p:pic>
        <p:nvPicPr>
          <p:cNvPr id="17" name="Picture 16" descr="A picture containing grill, stacked, several&#10;&#10;Description automatically generated">
            <a:extLst>
              <a:ext uri="{FF2B5EF4-FFF2-40B4-BE49-F238E27FC236}">
                <a16:creationId xmlns:a16="http://schemas.microsoft.com/office/drawing/2014/main" id="{FE549B9B-F15F-8CDC-E8E6-E3F386980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8309" y="2092067"/>
            <a:ext cx="3637007" cy="2045816"/>
          </a:xfrm>
          <a:prstGeom prst="rect">
            <a:avLst/>
          </a:prstGeom>
          <a:ln w="57150">
            <a:solidFill>
              <a:schemeClr val="accent1"/>
            </a:solidFill>
          </a:ln>
        </p:spPr>
      </p:pic>
      <p:sp>
        <p:nvSpPr>
          <p:cNvPr id="21" name="Text Placeholder 16">
            <a:extLst>
              <a:ext uri="{FF2B5EF4-FFF2-40B4-BE49-F238E27FC236}">
                <a16:creationId xmlns:a16="http://schemas.microsoft.com/office/drawing/2014/main" id="{FAC49367-D3F0-50D5-1BDE-28199BF8915B}"/>
              </a:ext>
            </a:extLst>
          </p:cNvPr>
          <p:cNvSpPr txBox="1">
            <a:spLocks/>
          </p:cNvSpPr>
          <p:nvPr/>
        </p:nvSpPr>
        <p:spPr>
          <a:xfrm>
            <a:off x="8313681" y="1532613"/>
            <a:ext cx="3251200" cy="480131"/>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400" b="1" dirty="0">
                <a:solidFill>
                  <a:schemeClr val="accent1"/>
                </a:solidFill>
              </a:rPr>
              <a:t>Solomon, Kings Valley Operations (17/10/2022)</a:t>
            </a:r>
          </a:p>
        </p:txBody>
      </p:sp>
      <p:sp>
        <p:nvSpPr>
          <p:cNvPr id="23" name="Text Placeholder 16">
            <a:extLst>
              <a:ext uri="{FF2B5EF4-FFF2-40B4-BE49-F238E27FC236}">
                <a16:creationId xmlns:a16="http://schemas.microsoft.com/office/drawing/2014/main" id="{CDF61A8E-3B64-EE31-B9BA-B3D0E71EFFF5}"/>
              </a:ext>
            </a:extLst>
          </p:cNvPr>
          <p:cNvSpPr txBox="1">
            <a:spLocks/>
          </p:cNvSpPr>
          <p:nvPr/>
        </p:nvSpPr>
        <p:spPr>
          <a:xfrm>
            <a:off x="8402458" y="4238374"/>
            <a:ext cx="325120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None/>
            </a:pPr>
            <a:r>
              <a:rPr lang="en-AU" sz="1200" b="1" dirty="0">
                <a:solidFill>
                  <a:schemeClr val="accent1"/>
                </a:solidFill>
              </a:rPr>
              <a:t>APT-IL-CNVY-CONVEY-CV0909-ASBL</a:t>
            </a:r>
          </a:p>
        </p:txBody>
      </p:sp>
      <p:sp>
        <p:nvSpPr>
          <p:cNvPr id="24" name="Text Placeholder 16">
            <a:extLst>
              <a:ext uri="{FF2B5EF4-FFF2-40B4-BE49-F238E27FC236}">
                <a16:creationId xmlns:a16="http://schemas.microsoft.com/office/drawing/2014/main" id="{2BFEB234-99B9-50C8-46FC-B3BE8130F052}"/>
              </a:ext>
            </a:extLst>
          </p:cNvPr>
          <p:cNvSpPr txBox="1">
            <a:spLocks/>
          </p:cNvSpPr>
          <p:nvPr/>
        </p:nvSpPr>
        <p:spPr>
          <a:xfrm>
            <a:off x="8402458" y="4496906"/>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Equipment:</a:t>
            </a:r>
            <a:r>
              <a:rPr lang="en-AU" sz="1200" dirty="0">
                <a:solidFill>
                  <a:schemeClr val="accent1"/>
                </a:solidFill>
              </a:rPr>
              <a:t> </a:t>
            </a:r>
          </a:p>
        </p:txBody>
      </p:sp>
      <p:sp>
        <p:nvSpPr>
          <p:cNvPr id="25" name="Text Placeholder 16">
            <a:extLst>
              <a:ext uri="{FF2B5EF4-FFF2-40B4-BE49-F238E27FC236}">
                <a16:creationId xmlns:a16="http://schemas.microsoft.com/office/drawing/2014/main" id="{E639AE88-A802-E442-7914-5B0D91B51A76}"/>
              </a:ext>
            </a:extLst>
          </p:cNvPr>
          <p:cNvSpPr txBox="1">
            <a:spLocks/>
          </p:cNvSpPr>
          <p:nvPr/>
        </p:nvSpPr>
        <p:spPr>
          <a:xfrm>
            <a:off x="8402457" y="5174810"/>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Bearing</a:t>
            </a:r>
          </a:p>
        </p:txBody>
      </p:sp>
      <p:sp>
        <p:nvSpPr>
          <p:cNvPr id="26" name="Text Placeholder 16">
            <a:extLst>
              <a:ext uri="{FF2B5EF4-FFF2-40B4-BE49-F238E27FC236}">
                <a16:creationId xmlns:a16="http://schemas.microsoft.com/office/drawing/2014/main" id="{C6DC29F9-FF05-2231-192A-8429E9FC6FE6}"/>
              </a:ext>
            </a:extLst>
          </p:cNvPr>
          <p:cNvSpPr txBox="1">
            <a:spLocks/>
          </p:cNvSpPr>
          <p:nvPr/>
        </p:nvSpPr>
        <p:spPr>
          <a:xfrm>
            <a:off x="8402457" y="56594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Broken (Cracked, Leaking, Holed)</a:t>
            </a:r>
          </a:p>
        </p:txBody>
      </p:sp>
      <p:sp>
        <p:nvSpPr>
          <p:cNvPr id="3" name="Text Placeholder 16">
            <a:extLst>
              <a:ext uri="{FF2B5EF4-FFF2-40B4-BE49-F238E27FC236}">
                <a16:creationId xmlns:a16="http://schemas.microsoft.com/office/drawing/2014/main" id="{1CB5C26F-F05D-BA13-293A-E8C99AFCC52C}"/>
              </a:ext>
            </a:extLst>
          </p:cNvPr>
          <p:cNvSpPr txBox="1">
            <a:spLocks/>
          </p:cNvSpPr>
          <p:nvPr/>
        </p:nvSpPr>
        <p:spPr>
          <a:xfrm>
            <a:off x="8402457" y="4664862"/>
            <a:ext cx="3432862"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dirty="0">
                <a:solidFill>
                  <a:schemeClr val="accent1"/>
                </a:solidFill>
              </a:rPr>
              <a:t>Conveyor Carry Belt CV909 (Conveyor Belting)</a:t>
            </a:r>
          </a:p>
        </p:txBody>
      </p:sp>
      <p:sp>
        <p:nvSpPr>
          <p:cNvPr id="5" name="Text Placeholder 16">
            <a:extLst>
              <a:ext uri="{FF2B5EF4-FFF2-40B4-BE49-F238E27FC236}">
                <a16:creationId xmlns:a16="http://schemas.microsoft.com/office/drawing/2014/main" id="{72EFDCB2-FF30-EF39-1727-A5F6BB7DC692}"/>
              </a:ext>
            </a:extLst>
          </p:cNvPr>
          <p:cNvSpPr txBox="1">
            <a:spLocks/>
          </p:cNvSpPr>
          <p:nvPr/>
        </p:nvSpPr>
        <p:spPr>
          <a:xfrm>
            <a:off x="8402457" y="4996597"/>
            <a:ext cx="3432861"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Object Part:</a:t>
            </a:r>
            <a:r>
              <a:rPr lang="en-AU" sz="1200" dirty="0">
                <a:solidFill>
                  <a:schemeClr val="accent1"/>
                </a:solidFill>
              </a:rPr>
              <a:t> </a:t>
            </a:r>
          </a:p>
        </p:txBody>
      </p:sp>
      <p:sp>
        <p:nvSpPr>
          <p:cNvPr id="6" name="Text Placeholder 16">
            <a:extLst>
              <a:ext uri="{FF2B5EF4-FFF2-40B4-BE49-F238E27FC236}">
                <a16:creationId xmlns:a16="http://schemas.microsoft.com/office/drawing/2014/main" id="{60E6C1C4-B5ED-F531-AF28-E4A3B22C1FA9}"/>
              </a:ext>
            </a:extLst>
          </p:cNvPr>
          <p:cNvSpPr txBox="1">
            <a:spLocks/>
          </p:cNvSpPr>
          <p:nvPr/>
        </p:nvSpPr>
        <p:spPr>
          <a:xfrm>
            <a:off x="8402458" y="5491794"/>
            <a:ext cx="3432860" cy="258532"/>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AU" sz="1200" b="1" dirty="0">
                <a:solidFill>
                  <a:schemeClr val="accent1"/>
                </a:solidFill>
              </a:rPr>
              <a:t>Damage Code:</a:t>
            </a:r>
            <a:r>
              <a:rPr lang="en-AU" sz="1200" dirty="0">
                <a:solidFill>
                  <a:schemeClr val="accent1"/>
                </a:solidFill>
              </a:rPr>
              <a:t> </a:t>
            </a:r>
          </a:p>
        </p:txBody>
      </p:sp>
      <p:sp>
        <p:nvSpPr>
          <p:cNvPr id="7" name="Text Placeholder 16">
            <a:extLst>
              <a:ext uri="{FF2B5EF4-FFF2-40B4-BE49-F238E27FC236}">
                <a16:creationId xmlns:a16="http://schemas.microsoft.com/office/drawing/2014/main" id="{D26AA7AD-F0CA-4629-7EBC-BAF985E5FD9F}"/>
              </a:ext>
            </a:extLst>
          </p:cNvPr>
          <p:cNvSpPr txBox="1">
            <a:spLocks/>
          </p:cNvSpPr>
          <p:nvPr/>
        </p:nvSpPr>
        <p:spPr>
          <a:xfrm>
            <a:off x="287650" y="1646058"/>
            <a:ext cx="3147003" cy="3494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000" b="1" dirty="0">
                <a:solidFill>
                  <a:schemeClr val="accent1"/>
                </a:solidFill>
                <a:latin typeface="Arial" panose="020B0604020202020204" pitchFamily="34" charset="0"/>
                <a:cs typeface="Arial" panose="020B0604020202020204" pitchFamily="34" charset="0"/>
              </a:rPr>
              <a:t>What Happened?</a:t>
            </a:r>
          </a:p>
        </p:txBody>
      </p:sp>
      <p:sp>
        <p:nvSpPr>
          <p:cNvPr id="11" name="Text Placeholder 13">
            <a:extLst>
              <a:ext uri="{FF2B5EF4-FFF2-40B4-BE49-F238E27FC236}">
                <a16:creationId xmlns:a16="http://schemas.microsoft.com/office/drawing/2014/main" id="{77EC4D3C-84BD-BA8E-2E03-81D3EA0767C2}"/>
              </a:ext>
            </a:extLst>
          </p:cNvPr>
          <p:cNvSpPr txBox="1">
            <a:spLocks/>
          </p:cNvSpPr>
          <p:nvPr/>
        </p:nvSpPr>
        <p:spPr>
          <a:xfrm>
            <a:off x="302417" y="2006024"/>
            <a:ext cx="7883581" cy="1463478"/>
          </a:xfrm>
          <a:prstGeom prst="rect">
            <a:avLst/>
          </a:prstGeom>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16" name="Text Placeholder 16">
            <a:extLst>
              <a:ext uri="{FF2B5EF4-FFF2-40B4-BE49-F238E27FC236}">
                <a16:creationId xmlns:a16="http://schemas.microsoft.com/office/drawing/2014/main" id="{988F31AF-7D28-41A3-2BD7-30FEA1935852}"/>
              </a:ext>
            </a:extLst>
          </p:cNvPr>
          <p:cNvSpPr txBox="1">
            <a:spLocks/>
          </p:cNvSpPr>
          <p:nvPr/>
        </p:nvSpPr>
        <p:spPr>
          <a:xfrm>
            <a:off x="287651" y="3465890"/>
            <a:ext cx="3132237" cy="355103"/>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Business Impact</a:t>
            </a:r>
          </a:p>
        </p:txBody>
      </p:sp>
      <p:sp>
        <p:nvSpPr>
          <p:cNvPr id="18" name="Text Placeholder 16">
            <a:extLst>
              <a:ext uri="{FF2B5EF4-FFF2-40B4-BE49-F238E27FC236}">
                <a16:creationId xmlns:a16="http://schemas.microsoft.com/office/drawing/2014/main" id="{73B71E10-9EE5-1472-CB46-98AA02EAE3EB}"/>
              </a:ext>
            </a:extLst>
          </p:cNvPr>
          <p:cNvSpPr txBox="1">
            <a:spLocks/>
          </p:cNvSpPr>
          <p:nvPr/>
        </p:nvSpPr>
        <p:spPr>
          <a:xfrm>
            <a:off x="287653" y="5395942"/>
            <a:ext cx="3132235" cy="394431"/>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Potential Root Cause(s)</a:t>
            </a:r>
          </a:p>
        </p:txBody>
      </p:sp>
      <p:sp>
        <p:nvSpPr>
          <p:cNvPr id="19" name="Text Placeholder 14">
            <a:extLst>
              <a:ext uri="{FF2B5EF4-FFF2-40B4-BE49-F238E27FC236}">
                <a16:creationId xmlns:a16="http://schemas.microsoft.com/office/drawing/2014/main" id="{43E915A7-7F13-9359-0E0B-8B93F379ED1E}"/>
              </a:ext>
            </a:extLst>
          </p:cNvPr>
          <p:cNvSpPr txBox="1">
            <a:spLocks/>
          </p:cNvSpPr>
          <p:nvPr/>
        </p:nvSpPr>
        <p:spPr>
          <a:xfrm>
            <a:off x="287650" y="5808487"/>
            <a:ext cx="8026031" cy="1000274"/>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1. MMMMMMMMMMMMMMMMMMMMMMMMMMMMMMMMMMMMMMMMMMMMMMMMMMMMMMMMMMMMMMMMMMMMMMMMMMMMMMMMMMMMMMMMMMMMMMMMMMMMMMMMMMMMMMMMMMMMMMMMMMMMMMMMMMMMMMMMMMMMMMMMMMMMMM
2. MMMMMMMMMMMMMMMMMMMMMMMMMMMMMMMMMMMMMMMMMMMMMMMMMMMMMMMMMMMMMMMMMMMMMMMMMMMMMMMMMMMMMMMMMMMMMMMMMMMMMMMMMMMMMMMMMMMMMMMMMMMMMMMMMMMMMMMMMMMMMMMMMMMMMM</a:t>
            </a:r>
          </a:p>
        </p:txBody>
      </p:sp>
      <p:sp>
        <p:nvSpPr>
          <p:cNvPr id="20" name="Text Placeholder 16">
            <a:extLst>
              <a:ext uri="{FF2B5EF4-FFF2-40B4-BE49-F238E27FC236}">
                <a16:creationId xmlns:a16="http://schemas.microsoft.com/office/drawing/2014/main" id="{39BC735A-7092-C780-33E1-424AEED10EA1}"/>
              </a:ext>
            </a:extLst>
          </p:cNvPr>
          <p:cNvSpPr txBox="1">
            <a:spLocks/>
          </p:cNvSpPr>
          <p:nvPr/>
        </p:nvSpPr>
        <p:spPr>
          <a:xfrm>
            <a:off x="287653" y="4327854"/>
            <a:ext cx="3132235" cy="349474"/>
          </a:xfrm>
          <a:prstGeom prst="rect">
            <a:avLst/>
          </a:prstGeom>
        </p:spPr>
        <p:txBody>
          <a:bodyPr/>
          <a:lstStyle>
            <a:lvl1pPr marL="0" indent="0" algn="l" defTabSz="914400" rtl="0" eaLnBrk="1" latinLnBrk="0" hangingPunct="1">
              <a:lnSpc>
                <a:spcPts val="2400"/>
              </a:lnSpc>
              <a:spcBef>
                <a:spcPts val="0"/>
              </a:spcBef>
              <a:spcAft>
                <a:spcPts val="600"/>
              </a:spcAft>
              <a:buFont typeface="Arial" panose="020B0604020202020204" pitchFamily="34" charset="0"/>
              <a:buNone/>
              <a:defRPr sz="2000" b="1" kern="1200">
                <a:solidFill>
                  <a:schemeClr val="accent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Immediate Action Taken</a:t>
            </a:r>
          </a:p>
        </p:txBody>
      </p:sp>
      <p:sp>
        <p:nvSpPr>
          <p:cNvPr id="22" name="Text Placeholder 14">
            <a:extLst>
              <a:ext uri="{FF2B5EF4-FFF2-40B4-BE49-F238E27FC236}">
                <a16:creationId xmlns:a16="http://schemas.microsoft.com/office/drawing/2014/main" id="{C005D613-4C03-9290-E464-282A3F0BD790}"/>
              </a:ext>
            </a:extLst>
          </p:cNvPr>
          <p:cNvSpPr txBox="1">
            <a:spLocks/>
          </p:cNvSpPr>
          <p:nvPr/>
        </p:nvSpPr>
        <p:spPr>
          <a:xfrm>
            <a:off x="287652" y="4682965"/>
            <a:ext cx="8026031" cy="646331"/>
          </a:xfrm>
          <a:prstGeom prst="rect">
            <a:avLst/>
          </a:prstGeom>
        </p:spPr>
        <p:txBody>
          <a:bodyPr wrap="square">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ts val="2200"/>
              </a:lnSpc>
              <a:spcBef>
                <a:spcPts val="0"/>
              </a:spcBef>
              <a:spcAft>
                <a:spcPts val="600"/>
              </a:spcAft>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sz="900" dirty="0"/>
              <a:t>MMMMMMMMMMMMMMMMMMMMMMMMMMMMMMMMMMMMMMMMMMMMMMMMMMMMMMMMMMMMMMMMMMMMMMMMMMMMMMMMMMMMMMMMMMMMMMMMMMMMMMMMMMMMMMMMMMMMMMMMMMMMMMMMMMMMMMMMMMMMMMMMMMMMMMMMMMMMMMMMMMMMMMMMMMMMMMMMMMMMMMMMMMMMMMMMMMMMMMMMMMMMMMMMMMMMMMMMMMMMMMMMMMMMMMMMMMMMMMMMMMMMMMMMMM</a:t>
            </a:r>
          </a:p>
        </p:txBody>
      </p:sp>
      <p:sp>
        <p:nvSpPr>
          <p:cNvPr id="27" name="TextBox 26">
            <a:extLst>
              <a:ext uri="{FF2B5EF4-FFF2-40B4-BE49-F238E27FC236}">
                <a16:creationId xmlns:a16="http://schemas.microsoft.com/office/drawing/2014/main" id="{F9007AF3-958D-020D-A79F-6C135BF5C558}"/>
              </a:ext>
            </a:extLst>
          </p:cNvPr>
          <p:cNvSpPr txBox="1"/>
          <p:nvPr/>
        </p:nvSpPr>
        <p:spPr>
          <a:xfrm>
            <a:off x="287650" y="3820993"/>
            <a:ext cx="7883584" cy="507831"/>
          </a:xfrm>
          <a:prstGeom prst="rect">
            <a:avLst/>
          </a:prstGeom>
          <a:noFill/>
        </p:spPr>
        <p:txBody>
          <a:bodyPr wrap="square" rtlCol="0">
            <a:spAutoFit/>
          </a:bodyPr>
          <a:lstStyle/>
          <a:p>
            <a:r>
              <a:rPr sz="900" dirty="0"/>
              <a:t>Event lasted 0.0 hours with an effective duration of 0.0 hours and 0 </a:t>
            </a:r>
            <a:r>
              <a:rPr sz="900" dirty="0" err="1"/>
              <a:t>tonnes</a:t>
            </a:r>
            <a:r>
              <a:rPr sz="900" dirty="0"/>
              <a:t> lost
MMMMMMMMMMMMMMMMMMMMMMMMMMMMMMMMMMMMMMMMMMMMMMMMMMMMMMMMMMMMMMMMMMMMMMMMMMMMMMMMMMMMMMMMMMMMMMMMMMMMMMMMMMMMMMMMMMMMMMMMMMMMMMMMMMMMMMMMMMMMMMMMMMMMMM</a:t>
            </a:r>
          </a:p>
        </p:txBody>
      </p:sp>
    </p:spTree>
    <p:extLst>
      <p:ext uri="{BB962C8B-B14F-4D97-AF65-F5344CB8AC3E}">
        <p14:creationId xmlns:p14="http://schemas.microsoft.com/office/powerpoint/2010/main" val="1261187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EVENT TITLE </a:t>
            </a:r>
          </a:p>
        </p:txBody>
      </p:sp>
      <p:sp>
        <p:nvSpPr>
          <p:cNvPr id="2" name="Text Placeholder 2">
            <a:extLst>
              <a:ext uri="{FF2B5EF4-FFF2-40B4-BE49-F238E27FC236}">
                <a16:creationId xmlns:a16="http://schemas.microsoft.com/office/drawing/2014/main" id="{44849DD2-3169-06ED-615A-262760C82C50}"/>
              </a:ext>
            </a:extLst>
          </p:cNvPr>
          <p:cNvSpPr>
            <a:spLocks noGrp="1"/>
          </p:cNvSpPr>
          <p:nvPr>
            <p:ph type="body" sz="quarter" idx="11"/>
          </p:nvPr>
        </p:nvSpPr>
        <p:spPr>
          <a:xfrm>
            <a:off x="399007" y="1328286"/>
            <a:ext cx="9017134" cy="299258"/>
          </a:xfrm>
        </p:spPr>
        <p:txBody>
          <a:bodyPr/>
          <a:lstStyle/>
          <a:p>
            <a:r>
              <a:rPr lang="en-AU" dirty="0"/>
              <a:t>Investigation and Root Cause Analysis Development Actions</a:t>
            </a:r>
          </a:p>
        </p:txBody>
      </p:sp>
    </p:spTree>
    <p:extLst>
      <p:ext uri="{BB962C8B-B14F-4D97-AF65-F5344CB8AC3E}">
        <p14:creationId xmlns:p14="http://schemas.microsoft.com/office/powerpoint/2010/main" val="92957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215B56-ACC1-4CE0-95A6-F8D931B43221}"/>
              </a:ext>
            </a:extLst>
          </p:cNvPr>
          <p:cNvSpPr>
            <a:spLocks noGrp="1"/>
          </p:cNvSpPr>
          <p:nvPr>
            <p:ph type="body" sz="quarter" idx="10"/>
          </p:nvPr>
        </p:nvSpPr>
        <p:spPr/>
        <p:txBody>
          <a:bodyPr/>
          <a:lstStyle/>
          <a:p>
            <a:r>
              <a:rPr lang="en-AU" dirty="0"/>
              <a:t>APPENDIX </a:t>
            </a:r>
          </a:p>
        </p:txBody>
      </p:sp>
      <p:sp>
        <p:nvSpPr>
          <p:cNvPr id="3" name="Text Placeholder 2">
            <a:extLst>
              <a:ext uri="{FF2B5EF4-FFF2-40B4-BE49-F238E27FC236}">
                <a16:creationId xmlns:a16="http://schemas.microsoft.com/office/drawing/2014/main" id="{FE307CB0-51E1-1ACD-BFB0-2DB90A3A0984}"/>
              </a:ext>
            </a:extLst>
          </p:cNvPr>
          <p:cNvSpPr>
            <a:spLocks noGrp="1"/>
          </p:cNvSpPr>
          <p:nvPr>
            <p:ph type="body" sz="quarter" idx="11"/>
          </p:nvPr>
        </p:nvSpPr>
        <p:spPr>
          <a:xfrm>
            <a:off x="399007" y="1328286"/>
            <a:ext cx="9017134" cy="299258"/>
          </a:xfrm>
        </p:spPr>
        <p:txBody>
          <a:bodyPr/>
          <a:lstStyle/>
          <a:p>
            <a:r>
              <a:rPr lang="en-AU" dirty="0"/>
              <a:t>Downtime Event Material Management</a:t>
            </a:r>
          </a:p>
        </p:txBody>
      </p:sp>
      <p:sp>
        <p:nvSpPr>
          <p:cNvPr id="6" name="Oval 5">
            <a:extLst>
              <a:ext uri="{FF2B5EF4-FFF2-40B4-BE49-F238E27FC236}">
                <a16:creationId xmlns:a16="http://schemas.microsoft.com/office/drawing/2014/main" id="{EFE3985F-36E5-7D58-6306-CB96E25F67F3}"/>
              </a:ext>
            </a:extLst>
          </p:cNvPr>
          <p:cNvSpPr/>
          <p:nvPr/>
        </p:nvSpPr>
        <p:spPr>
          <a:xfrm>
            <a:off x="71013" y="3101720"/>
            <a:ext cx="1282791" cy="128279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solidFill>
                  <a:schemeClr val="tx1"/>
                </a:solidFill>
              </a:rPr>
              <a:t>Downtime Event</a:t>
            </a:r>
          </a:p>
        </p:txBody>
      </p:sp>
      <p:sp>
        <p:nvSpPr>
          <p:cNvPr id="7" name="Rectangle 6">
            <a:extLst>
              <a:ext uri="{FF2B5EF4-FFF2-40B4-BE49-F238E27FC236}">
                <a16:creationId xmlns:a16="http://schemas.microsoft.com/office/drawing/2014/main" id="{F80FC243-82BA-7541-EDA8-3A03BCE118A9}"/>
              </a:ext>
            </a:extLst>
          </p:cNvPr>
          <p:cNvSpPr/>
          <p:nvPr/>
        </p:nvSpPr>
        <p:spPr>
          <a:xfrm>
            <a:off x="1486860" y="3296179"/>
            <a:ext cx="1533372"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Review spares prior to failure fact sheet being distributed</a:t>
            </a:r>
          </a:p>
        </p:txBody>
      </p:sp>
      <p:sp>
        <p:nvSpPr>
          <p:cNvPr id="26" name="Diamond 25">
            <a:extLst>
              <a:ext uri="{FF2B5EF4-FFF2-40B4-BE49-F238E27FC236}">
                <a16:creationId xmlns:a16="http://schemas.microsoft.com/office/drawing/2014/main" id="{F6C66375-23C2-B2FF-4748-934ECB33B044}"/>
              </a:ext>
            </a:extLst>
          </p:cNvPr>
          <p:cNvSpPr/>
          <p:nvPr/>
        </p:nvSpPr>
        <p:spPr>
          <a:xfrm>
            <a:off x="3153288" y="2917106"/>
            <a:ext cx="2870193" cy="1652021"/>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Are inventory levels sufficient to mitigate other similar events?</a:t>
            </a:r>
          </a:p>
        </p:txBody>
      </p:sp>
      <p:cxnSp>
        <p:nvCxnSpPr>
          <p:cNvPr id="35" name="Straight Arrow Connector 34">
            <a:extLst>
              <a:ext uri="{FF2B5EF4-FFF2-40B4-BE49-F238E27FC236}">
                <a16:creationId xmlns:a16="http://schemas.microsoft.com/office/drawing/2014/main" id="{D0CF54F1-5988-AC0F-628C-B0B8F71115CB}"/>
              </a:ext>
            </a:extLst>
          </p:cNvPr>
          <p:cNvCxnSpPr>
            <a:cxnSpLocks/>
            <a:stCxn id="6" idx="6"/>
            <a:endCxn id="7" idx="1"/>
          </p:cNvCxnSpPr>
          <p:nvPr/>
        </p:nvCxnSpPr>
        <p:spPr>
          <a:xfrm>
            <a:off x="1353804" y="3743116"/>
            <a:ext cx="133056"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67A74D91-92B7-3385-2804-9F1C72070890}"/>
              </a:ext>
            </a:extLst>
          </p:cNvPr>
          <p:cNvCxnSpPr>
            <a:cxnSpLocks/>
            <a:stCxn id="7" idx="3"/>
            <a:endCxn id="26" idx="1"/>
          </p:cNvCxnSpPr>
          <p:nvPr/>
        </p:nvCxnSpPr>
        <p:spPr>
          <a:xfrm>
            <a:off x="3020232" y="3743117"/>
            <a:ext cx="13305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17A5362D-338A-18B5-D892-37FFF5D79F9B}"/>
              </a:ext>
            </a:extLst>
          </p:cNvPr>
          <p:cNvCxnSpPr>
            <a:cxnSpLocks/>
            <a:stCxn id="26" idx="3"/>
            <a:endCxn id="75" idx="1"/>
          </p:cNvCxnSpPr>
          <p:nvPr/>
        </p:nvCxnSpPr>
        <p:spPr>
          <a:xfrm flipV="1">
            <a:off x="6023481" y="3743115"/>
            <a:ext cx="714545"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A86C748D-65AE-EC95-3C5B-E1A1196DCAD6}"/>
              </a:ext>
            </a:extLst>
          </p:cNvPr>
          <p:cNvCxnSpPr>
            <a:cxnSpLocks/>
          </p:cNvCxnSpPr>
          <p:nvPr/>
        </p:nvCxnSpPr>
        <p:spPr>
          <a:xfrm>
            <a:off x="8103819" y="3743117"/>
            <a:ext cx="19827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5" name="Straight Arrow Connector 44">
            <a:extLst>
              <a:ext uri="{FF2B5EF4-FFF2-40B4-BE49-F238E27FC236}">
                <a16:creationId xmlns:a16="http://schemas.microsoft.com/office/drawing/2014/main" id="{05231F5C-39D4-94D6-26E5-E0E5257EFF9E}"/>
              </a:ext>
            </a:extLst>
          </p:cNvPr>
          <p:cNvCxnSpPr>
            <a:cxnSpLocks/>
            <a:stCxn id="75" idx="3"/>
            <a:endCxn id="76" idx="1"/>
          </p:cNvCxnSpPr>
          <p:nvPr/>
        </p:nvCxnSpPr>
        <p:spPr>
          <a:xfrm flipV="1">
            <a:off x="8352817" y="3743114"/>
            <a:ext cx="11418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54F947FD-703D-ED14-E49A-F28389A81EC3}"/>
              </a:ext>
            </a:extLst>
          </p:cNvPr>
          <p:cNvCxnSpPr>
            <a:cxnSpLocks/>
            <a:stCxn id="26" idx="2"/>
            <a:endCxn id="55" idx="0"/>
          </p:cNvCxnSpPr>
          <p:nvPr/>
        </p:nvCxnSpPr>
        <p:spPr>
          <a:xfrm flipH="1">
            <a:off x="4588384" y="4569127"/>
            <a:ext cx="1" cy="26619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2" name="TextBox 51">
            <a:extLst>
              <a:ext uri="{FF2B5EF4-FFF2-40B4-BE49-F238E27FC236}">
                <a16:creationId xmlns:a16="http://schemas.microsoft.com/office/drawing/2014/main" id="{B28DE3DA-8843-E40F-14F9-E3161DB5A70D}"/>
              </a:ext>
            </a:extLst>
          </p:cNvPr>
          <p:cNvSpPr txBox="1"/>
          <p:nvPr/>
        </p:nvSpPr>
        <p:spPr>
          <a:xfrm>
            <a:off x="5942440" y="3500211"/>
            <a:ext cx="876628" cy="230832"/>
          </a:xfrm>
          <a:prstGeom prst="rect">
            <a:avLst/>
          </a:prstGeom>
          <a:noFill/>
        </p:spPr>
        <p:txBody>
          <a:bodyPr wrap="square" rtlCol="0">
            <a:spAutoFit/>
          </a:bodyPr>
          <a:lstStyle/>
          <a:p>
            <a:r>
              <a:rPr lang="en-US" sz="900" b="1" dirty="0">
                <a:solidFill>
                  <a:schemeClr val="accent1"/>
                </a:solidFill>
              </a:rPr>
              <a:t>No / Unsure</a:t>
            </a:r>
          </a:p>
        </p:txBody>
      </p:sp>
      <p:sp>
        <p:nvSpPr>
          <p:cNvPr id="54" name="TextBox 53">
            <a:extLst>
              <a:ext uri="{FF2B5EF4-FFF2-40B4-BE49-F238E27FC236}">
                <a16:creationId xmlns:a16="http://schemas.microsoft.com/office/drawing/2014/main" id="{676C7B37-2A15-F14E-7569-33297D3C155D}"/>
              </a:ext>
            </a:extLst>
          </p:cNvPr>
          <p:cNvSpPr txBox="1"/>
          <p:nvPr/>
        </p:nvSpPr>
        <p:spPr>
          <a:xfrm>
            <a:off x="4588384" y="4586810"/>
            <a:ext cx="418796" cy="230832"/>
          </a:xfrm>
          <a:prstGeom prst="rect">
            <a:avLst/>
          </a:prstGeom>
          <a:noFill/>
        </p:spPr>
        <p:txBody>
          <a:bodyPr wrap="square" rtlCol="0">
            <a:spAutoFit/>
          </a:bodyPr>
          <a:lstStyle/>
          <a:p>
            <a:r>
              <a:rPr lang="en-US" sz="900" b="1" dirty="0">
                <a:solidFill>
                  <a:schemeClr val="accent1"/>
                </a:solidFill>
              </a:rPr>
              <a:t>Yes</a:t>
            </a:r>
          </a:p>
        </p:txBody>
      </p:sp>
      <p:sp>
        <p:nvSpPr>
          <p:cNvPr id="55" name="Diamond 54">
            <a:extLst>
              <a:ext uri="{FF2B5EF4-FFF2-40B4-BE49-F238E27FC236}">
                <a16:creationId xmlns:a16="http://schemas.microsoft.com/office/drawing/2014/main" id="{566D2077-984F-2BC8-A90B-C55F0380841B}"/>
              </a:ext>
            </a:extLst>
          </p:cNvPr>
          <p:cNvSpPr/>
          <p:nvPr/>
        </p:nvSpPr>
        <p:spPr>
          <a:xfrm>
            <a:off x="4006194" y="4835325"/>
            <a:ext cx="1164380" cy="709929"/>
          </a:xfrm>
          <a:prstGeom prst="diamond">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tx1"/>
                </a:solidFill>
              </a:rPr>
              <a:t>End</a:t>
            </a:r>
          </a:p>
        </p:txBody>
      </p:sp>
      <p:sp>
        <p:nvSpPr>
          <p:cNvPr id="56" name="Diamond 55">
            <a:extLst>
              <a:ext uri="{FF2B5EF4-FFF2-40B4-BE49-F238E27FC236}">
                <a16:creationId xmlns:a16="http://schemas.microsoft.com/office/drawing/2014/main" id="{59433984-69F4-9006-1152-3B19788B5F57}"/>
              </a:ext>
            </a:extLst>
          </p:cNvPr>
          <p:cNvSpPr/>
          <p:nvPr/>
        </p:nvSpPr>
        <p:spPr>
          <a:xfrm>
            <a:off x="10661515" y="3388149"/>
            <a:ext cx="1164380" cy="709929"/>
          </a:xfrm>
          <a:prstGeom prst="diamond">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solidFill>
                  <a:schemeClr val="tx1"/>
                </a:solidFill>
              </a:rPr>
              <a:t>End</a:t>
            </a:r>
          </a:p>
        </p:txBody>
      </p:sp>
      <p:sp>
        <p:nvSpPr>
          <p:cNvPr id="75" name="Rectangle 74">
            <a:extLst>
              <a:ext uri="{FF2B5EF4-FFF2-40B4-BE49-F238E27FC236}">
                <a16:creationId xmlns:a16="http://schemas.microsoft.com/office/drawing/2014/main" id="{887672B7-9E40-0189-D9BE-0AFBF8F12700}"/>
              </a:ext>
            </a:extLst>
          </p:cNvPr>
          <p:cNvSpPr/>
          <p:nvPr/>
        </p:nvSpPr>
        <p:spPr>
          <a:xfrm>
            <a:off x="6738026" y="3296177"/>
            <a:ext cx="1614791"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Escalate to </a:t>
            </a:r>
            <a:r>
              <a:rPr lang="en-US" sz="1100" b="1" dirty="0"/>
              <a:t>Senior Engineer</a:t>
            </a:r>
            <a:r>
              <a:rPr lang="en-US" sz="1100" dirty="0"/>
              <a:t> / </a:t>
            </a:r>
            <a:r>
              <a:rPr lang="en-US" sz="1100" b="1" dirty="0"/>
              <a:t>Senior Planner</a:t>
            </a:r>
            <a:r>
              <a:rPr lang="en-US" sz="1100" dirty="0"/>
              <a:t> for assistance</a:t>
            </a:r>
          </a:p>
        </p:txBody>
      </p:sp>
      <p:sp>
        <p:nvSpPr>
          <p:cNvPr id="76" name="Rectangle 75">
            <a:extLst>
              <a:ext uri="{FF2B5EF4-FFF2-40B4-BE49-F238E27FC236}">
                <a16:creationId xmlns:a16="http://schemas.microsoft.com/office/drawing/2014/main" id="{85AC456A-C23A-6E4D-DC1F-3E8957A2F6E0}"/>
              </a:ext>
            </a:extLst>
          </p:cNvPr>
          <p:cNvSpPr/>
          <p:nvPr/>
        </p:nvSpPr>
        <p:spPr>
          <a:xfrm>
            <a:off x="8466997" y="3296176"/>
            <a:ext cx="2080338" cy="893876"/>
          </a:xfrm>
          <a:prstGeom prst="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dirty="0"/>
              <a:t>Ensure mitigation action is </a:t>
            </a:r>
            <a:r>
              <a:rPr lang="en-US" sz="1100" b="1" dirty="0"/>
              <a:t>communicated</a:t>
            </a:r>
            <a:r>
              <a:rPr lang="en-US" sz="1100" dirty="0"/>
              <a:t>, </a:t>
            </a:r>
            <a:r>
              <a:rPr lang="en-US" sz="1100" b="1" dirty="0"/>
              <a:t>documented</a:t>
            </a:r>
            <a:r>
              <a:rPr lang="en-US" sz="1100" dirty="0"/>
              <a:t> and </a:t>
            </a:r>
            <a:r>
              <a:rPr lang="en-US" sz="1100" b="1" dirty="0"/>
              <a:t>allocated</a:t>
            </a:r>
            <a:r>
              <a:rPr lang="en-US" sz="1100" dirty="0"/>
              <a:t> in Failure Fact Sheet</a:t>
            </a:r>
          </a:p>
        </p:txBody>
      </p:sp>
      <p:cxnSp>
        <p:nvCxnSpPr>
          <p:cNvPr id="96" name="Straight Arrow Connector 95">
            <a:extLst>
              <a:ext uri="{FF2B5EF4-FFF2-40B4-BE49-F238E27FC236}">
                <a16:creationId xmlns:a16="http://schemas.microsoft.com/office/drawing/2014/main" id="{CEF9CCD5-8645-3892-06CE-A16CE787AF1F}"/>
              </a:ext>
            </a:extLst>
          </p:cNvPr>
          <p:cNvCxnSpPr>
            <a:cxnSpLocks/>
            <a:stCxn id="76" idx="3"/>
            <a:endCxn id="56" idx="1"/>
          </p:cNvCxnSpPr>
          <p:nvPr/>
        </p:nvCxnSpPr>
        <p:spPr>
          <a:xfrm>
            <a:off x="10547335" y="3743114"/>
            <a:ext cx="11418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4669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690852"/>
      </p:ext>
    </p:extLst>
  </p:cSld>
  <p:clrMapOvr>
    <a:masterClrMapping/>
  </p:clrMapOvr>
</p:sld>
</file>

<file path=ppt/theme/theme1.xml><?xml version="1.0" encoding="utf-8"?>
<a:theme xmlns:a="http://schemas.openxmlformats.org/drawingml/2006/main" name="General">
  <a:themeElements>
    <a:clrScheme name="Fortescue">
      <a:dk1>
        <a:sysClr val="windowText" lastClr="000000"/>
      </a:dk1>
      <a:lt1>
        <a:sysClr val="window" lastClr="FFFFFF"/>
      </a:lt1>
      <a:dk2>
        <a:srgbClr val="13294B"/>
      </a:dk2>
      <a:lt2>
        <a:srgbClr val="E7E6E6"/>
      </a:lt2>
      <a:accent1>
        <a:srgbClr val="418FDE"/>
      </a:accent1>
      <a:accent2>
        <a:srgbClr val="A2AAA4"/>
      </a:accent2>
      <a:accent3>
        <a:srgbClr val="333F48"/>
      </a:accent3>
      <a:accent4>
        <a:srgbClr val="00AEC7"/>
      </a:accent4>
      <a:accent5>
        <a:srgbClr val="F2CD00"/>
      </a:accent5>
      <a:accent6>
        <a:srgbClr val="6ABF4B"/>
      </a:accent6>
      <a:hlink>
        <a:srgbClr val="418FDE"/>
      </a:hlink>
      <a:folHlink>
        <a:srgbClr val="13294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Y22 Fortescue Master PPT 100-TE-AD-0016_0" id="{FE7B5ABF-33F8-45E9-9D6A-9C11B710F0E6}" vid="{81E2E9BB-0213-41D9-A954-58AB082944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03D7B440963242B1563010C9AC37DE" ma:contentTypeVersion="13" ma:contentTypeDescription="Create a new document." ma:contentTypeScope="" ma:versionID="c964284b07753aa6d74747881eeb48a6">
  <xsd:schema xmlns:xsd="http://www.w3.org/2001/XMLSchema" xmlns:xs="http://www.w3.org/2001/XMLSchema" xmlns:p="http://schemas.microsoft.com/office/2006/metadata/properties" xmlns:ns2="2eb039e3-f983-4bb2-96ee-32dfecaff9f3" xmlns:ns3="872cc29a-71ec-4536-bf69-e01a2e6a216b" targetNamespace="http://schemas.microsoft.com/office/2006/metadata/properties" ma:root="true" ma:fieldsID="1c4246e798d2ebfd94fae173a91461f0" ns2:_="" ns3:_="">
    <xsd:import namespace="2eb039e3-f983-4bb2-96ee-32dfecaff9f3"/>
    <xsd:import namespace="872cc29a-71ec-4536-bf69-e01a2e6a21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b039e3-f983-4bb2-96ee-32dfecaff9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72cc29a-71ec-4536-bf69-e01a2e6a216b"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4B90-B446-4A22-B9D2-13FABED32E6F}">
  <ds:schemaRefs>
    <ds:schemaRef ds:uri="2eb039e3-f983-4bb2-96ee-32dfecaff9f3"/>
    <ds:schemaRef ds:uri="872cc29a-71ec-4536-bf69-e01a2e6a21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E0BCDA-9D2F-40F5-91BF-16092933264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0574E74-0064-43D9-BBE5-AE12E7377A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297</TotalTime>
  <Words>138</Words>
  <Application>Microsoft Macintosh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General</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Dean Cackett</dc:creator>
  <cp:lastModifiedBy>Jason Veljanoski</cp:lastModifiedBy>
  <cp:revision>35</cp:revision>
  <dcterms:created xsi:type="dcterms:W3CDTF">2019-02-04T02:40:20Z</dcterms:created>
  <dcterms:modified xsi:type="dcterms:W3CDTF">2022-09-22T00:46:48Z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0x0101002003D7B440963242B1563010C9AC37DE</vt:lpwstr>
  </property>
</Properties>
</file>